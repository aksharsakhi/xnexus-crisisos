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5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0F1420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/>
          <a:lstStyle/>
          <a:p>
            <a:pPr algn="ctr">
              <a:defRPr sz="1200" b="1">
                <a:solidFill>
                  <a:srgbClr val="00F0FF"/>
                </a:solidFill>
                <a:latin typeface="Arial"/>
              </a:defRPr>
            </a:pPr>
            <a:r>
              <a:t>XNEXUS — CRISISOS FOR INDIA</a:t>
            </a:r>
          </a:p>
          <a:p>
            <a:pPr algn="ctr">
              <a:defRPr sz="5600" b="1">
                <a:solidFill>
                  <a:srgbClr val="FFFFFF"/>
                </a:solidFill>
                <a:latin typeface="Arial"/>
              </a:defRPr>
            </a:pPr>
            <a:r>
              <a:t>XNEXUS.OS</a:t>
            </a:r>
          </a:p>
          <a:p>
            <a:pPr algn="ctr">
              <a:defRPr sz="1600" b="1">
                <a:solidFill>
                  <a:srgbClr val="7B61FF"/>
                </a:solidFill>
                <a:latin typeface="Arial"/>
              </a:defRPr>
            </a:pPr>
            <a:r>
              <a:t>AUTONOMOUS DISASTER COMMAND CENTER</a:t>
            </a:r>
          </a:p>
          <a:p>
            <a:br/>
            <a:pPr algn="ctr">
              <a:defRPr sz="1400">
                <a:solidFill>
                  <a:srgbClr val="E8EDF5"/>
                </a:solidFill>
                <a:latin typeface="Arial"/>
              </a:defRPr>
            </a:pPr>
            <a:r>
              <a:t>An intelligent multi-agent operating system that predicts, coordinates, and autonomously manages disaster response in real time across India's most vulnerable regions.</a:t>
            </a:r>
          </a:p>
          <a:p>
            <a:br/>
            <a:pPr algn="ctr">
              <a:defRPr sz="1100" b="1">
                <a:solidFill>
                  <a:srgbClr val="00F0FF"/>
                </a:solidFill>
                <a:latin typeface="Arial"/>
              </a:defRPr>
            </a:pPr>
            <a:r>
              <a:t>TELEMETRY INTEGRATED: IMD Doppler Radar · CWC River Gauges · GSI Landslide Indices · MapmyIndia · NDMA Sachet · 108 Emergency Health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5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02 /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People Are Dying Because Agencies Can't Coordinate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B7A99"/>
                </a:solidFill>
                <a:latin typeface="Arial"/>
              </a:defRPr>
            </a:pPr>
            <a:r>
              <a:t>India has world-class sensor networks (IMD, CWC, GSI), but they operate in absolute data silos. Manual phone chains create fatal delays.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291840" cy="1645920"/>
          </a:xfrm>
          <a:prstGeom prst="roundRect">
            <a:avLst/>
          </a:prstGeom>
          <a:solidFill>
            <a:srgbClr val="0F1420"/>
          </a:solidFill>
          <a:ln>
            <a:solidFill>
              <a:srgbClr val="FF4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4D6A"/>
                </a:solidFill>
              </a:defRPr>
            </a:pPr>
            <a:r>
              <a:t>2,000+ Deaths / Yr</a:t>
            </a:r>
          </a:p>
          <a:p>
            <a:pPr>
              <a:defRPr sz="1100">
                <a:solidFill>
                  <a:srgbClr val="E8EDF5"/>
                </a:solidFill>
              </a:defRPr>
            </a:pPr>
            <a:r>
              <a:t>Annual mortality from floods alone in India (NDMA 2023).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11680"/>
            <a:ext cx="3291840" cy="1645920"/>
          </a:xfrm>
          <a:prstGeom prst="roundRect">
            <a:avLst/>
          </a:prstGeom>
          <a:solidFill>
            <a:srgbClr val="0F1420"/>
          </a:solidFill>
          <a:ln>
            <a:solidFill>
              <a:srgbClr val="FF4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4D6A"/>
                </a:solidFill>
              </a:defRPr>
            </a:pPr>
            <a:r>
              <a:t>$86 Billion Loss</a:t>
            </a:r>
          </a:p>
          <a:p>
            <a:pPr>
              <a:defRPr sz="1100">
                <a:solidFill>
                  <a:srgbClr val="E8EDF5"/>
                </a:solidFill>
              </a:defRPr>
            </a:pPr>
            <a:r>
              <a:t>Cumulative economic damage from disasters (World Bank).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291840" cy="1645920"/>
          </a:xfrm>
          <a:prstGeom prst="roundRect">
            <a:avLst/>
          </a:prstGeom>
          <a:solidFill>
            <a:srgbClr val="0F1420"/>
          </a:solidFill>
          <a:ln>
            <a:solidFill>
              <a:srgbClr val="FF4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4D6A"/>
                </a:solidFill>
              </a:defRPr>
            </a:pPr>
            <a:r>
              <a:t>75% Districts At Risk</a:t>
            </a:r>
          </a:p>
          <a:p>
            <a:pPr>
              <a:defRPr sz="1100">
                <a:solidFill>
                  <a:srgbClr val="E8EDF5"/>
                </a:solidFill>
              </a:defRPr>
            </a:pPr>
            <a:r>
              <a:t>Three-fourths of Indian districts are disaster-prone.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607040" cy="2377440"/>
          </a:xfrm>
          <a:prstGeom prst="roundRect">
            <a:avLst/>
          </a:prstGeom>
          <a:solidFill>
            <a:srgbClr val="0F1420"/>
          </a:solidFill>
          <a:ln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7B61FF"/>
                </a:solidFill>
              </a:defRPr>
            </a:pPr>
            <a:r>
              <a:t>REAL HISTORICAL CASE STUDIES &amp; COORDINATION FAILURES</a:t>
            </a:r>
          </a:p>
          <a:p>
            <a:pPr>
              <a:defRPr sz="1100">
                <a:solidFill>
                  <a:srgbClr val="E8EDF5"/>
                </a:solidFill>
              </a:defRPr>
            </a:pPr>
            <a:r>
              <a:t>• Wayanad Landslides (July 2024 - 400+ Dead): Landslides struck at 2:00 AM. CWC upstream telemetry, GSI soil moisture, and IMD rain alerts were never cross-analyzed in real time.</a:t>
            </a:r>
          </a:p>
          <a:p>
            <a:pPr>
              <a:defRPr sz="1100">
                <a:solidFill>
                  <a:srgbClr val="E8EDF5"/>
                </a:solidFill>
              </a:defRPr>
            </a:pPr>
            <a:r>
              <a:t>• Kerala Floods (August 2018 - 483 Dead): 35 major dams opened simultaneously without synchronized downstream evacuation modeling. Rescue fleets arrived 6+ hours late.</a:t>
            </a:r>
          </a:p>
          <a:p>
            <a:pPr>
              <a:defRPr sz="1100" b="1">
                <a:solidFill>
                  <a:srgbClr val="FF4D6A"/>
                </a:solidFill>
              </a:defRPr>
            </a:pPr>
            <a:r>
              <a:t>• Traditional 100-Minute Warning Friction: IMD Alert (45 min) → DM Office (35 min) → NDRF Dispatch (22 min) = 100+ minutes total delay.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5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03 /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What We're Building: XNexus-CrisisOS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B7A99"/>
                </a:solidFill>
                <a:latin typeface="Arial"/>
              </a:defRPr>
            </a:pPr>
            <a:r>
              <a:t>Replacing the manual 100-minute phone-call chain with an autonomous multi-agent AI operating system.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0F1420"/>
          </a:solidFill>
          <a:ln>
            <a:solidFill>
              <a:srgbClr val="FF4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4D6A"/>
                </a:solidFill>
              </a:defRPr>
            </a:pPr>
            <a:r>
              <a:t>TODAY: MANUAL PHONE CHAIN (100+ MIN)</a:t>
            </a:r>
          </a:p>
          <a:p>
            <a:pPr>
              <a:defRPr sz="1100">
                <a:solidFill>
                  <a:srgbClr val="E8EDF5"/>
                </a:solidFill>
              </a:defRPr>
            </a:pPr>
            <a:r>
              <a:t>1. IMD Doppler detects heavy rainfall (T + 0m)</a:t>
            </a:r>
          </a:p>
          <a:p>
            <a:pPr>
              <a:defRPr sz="1100">
                <a:solidFill>
                  <a:srgbClr val="E8EDF5"/>
                </a:solidFill>
              </a:defRPr>
            </a:pPr>
            <a:r>
              <a:t>2. Fax/Email alert sent to District Magistrate (T + 45m)</a:t>
            </a:r>
          </a:p>
          <a:p>
            <a:pPr>
              <a:defRPr sz="1100">
                <a:solidFill>
                  <a:srgbClr val="E8EDF5"/>
                </a:solidFill>
              </a:defRPr>
            </a:pPr>
            <a:r>
              <a:t>3. DM office calls CWC officials for river levels (T + 80m)</a:t>
            </a:r>
          </a:p>
          <a:p>
            <a:pPr>
              <a:defRPr sz="1100">
                <a:solidFill>
                  <a:srgbClr val="E8EDF5"/>
                </a:solidFill>
              </a:defRPr>
            </a:pPr>
            <a:r>
              <a:t>4. NDRF dispatched via manual phone call (T + 95m)</a:t>
            </a:r>
          </a:p>
          <a:p>
            <a:pPr>
              <a:defRPr sz="1100">
                <a:solidFill>
                  <a:srgbClr val="E8EDF5"/>
                </a:solidFill>
              </a:defRPr>
            </a:pPr>
            <a:r>
              <a:t>5. Standard sirens blown (no route guidance given)</a:t>
            </a:r>
          </a:p>
          <a:p>
            <a:br/>
            <a:pPr>
              <a:defRPr sz="1100">
                <a:solidFill>
                  <a:srgbClr val="E8EDF5"/>
                </a:solidFill>
              </a:defRPr>
            </a:pPr>
            <a:r>
              <a:t>RESULT: 100+ minutes delay. Less than 10 min warning for families.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120640" cy="4297680"/>
          </a:xfrm>
          <a:prstGeom prst="roundRect">
            <a:avLst/>
          </a:prstGeom>
          <a:solidFill>
            <a:srgbClr val="0F1420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E676"/>
                </a:solidFill>
              </a:defRPr>
            </a:pPr>
            <a:r>
              <a:t>WITH XNEXUS: AUTONOMOUS MESH (&lt; 5 MIN)</a:t>
            </a:r>
          </a:p>
          <a:p>
            <a:pPr>
              <a:defRPr sz="1100">
                <a:solidFill>
                  <a:srgbClr val="E8EDF5"/>
                </a:solidFill>
              </a:defRPr>
            </a:pPr>
            <a:r>
              <a:t>1. IMD, CWC, GSI feeds ingested concurrently via MCP (T + 0s)</a:t>
            </a:r>
          </a:p>
          <a:p>
            <a:pPr>
              <a:defRPr sz="1100">
                <a:solidFill>
                  <a:srgbClr val="E8EDF5"/>
                </a:solidFill>
              </a:defRPr>
            </a:pPr>
            <a:r>
              <a:t>2. WeatherIntel &amp; HydroMonitor agents reason jointly (T + 15s)</a:t>
            </a:r>
          </a:p>
          <a:p>
            <a:pPr>
              <a:defRPr sz="1100">
                <a:solidFill>
                  <a:srgbClr val="E8EDF5"/>
                </a:solidFill>
              </a:defRPr>
            </a:pPr>
            <a:r>
              <a:t>3. RouteOptimizer maps detours around blocked NHAI roads (T + 30s)</a:t>
            </a:r>
          </a:p>
          <a:p>
            <a:pPr>
              <a:defRPr sz="1100">
                <a:solidFill>
                  <a:srgbClr val="E8EDF5"/>
                </a:solidFill>
              </a:defRPr>
            </a:pPr>
            <a:r>
              <a:t>4. MedResponse triages 108 ICU hospital bed availability (T + 45s)</a:t>
            </a:r>
          </a:p>
          <a:p>
            <a:pPr>
              <a:defRPr sz="1100">
                <a:solidFill>
                  <a:srgbClr val="E8EDF5"/>
                </a:solidFill>
              </a:defRPr>
            </a:pPr>
            <a:r>
              <a:t>5. NDMA Sachet cell broadcast sent to local towers (T + 60s)</a:t>
            </a:r>
          </a:p>
          <a:p>
            <a:br/>
            <a:pPr>
              <a:defRPr sz="1100">
                <a:solidFill>
                  <a:srgbClr val="E8EDF5"/>
                </a:solidFill>
              </a:defRPr>
            </a:pPr>
            <a:r>
              <a:t>RESULT: Under 5 minutes total response. Automatic life-saving routing.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5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04 / MULTI-AGENT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India-Focused 9-Agentic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B7A99"/>
                </a:solidFill>
                <a:latin typeface="Arial"/>
              </a:defRPr>
            </a:pPr>
            <a:r>
              <a:t>Nine specialized AI agents collaborating in real time using Indian government telemetry.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83280" cy="1280160"/>
          </a:xfrm>
          <a:prstGeom prst="roundRect">
            <a:avLst/>
          </a:prstGeom>
          <a:solidFill>
            <a:srgbClr val="0F1420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🛰️ WeatherIntel</a:t>
            </a:r>
          </a:p>
          <a:p>
            <a:pPr>
              <a:defRPr sz="950">
                <a:solidFill>
                  <a:srgbClr val="6B7A99"/>
                </a:solidFill>
              </a:defRPr>
            </a:pPr>
            <a:r>
              <a:t>Feed: IMD Doppler Radar &amp; INSAT-3D</a:t>
            </a:r>
            <a:br/>
            <a:r>
              <a:t>Tracks cloud reflectivity &amp; rain 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011680"/>
            <a:ext cx="3383280" cy="1280160"/>
          </a:xfrm>
          <a:prstGeom prst="roundRect">
            <a:avLst/>
          </a:prstGeom>
          <a:solidFill>
            <a:srgbClr val="0F1420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🌊 HydroMonitor</a:t>
            </a:r>
          </a:p>
          <a:p>
            <a:pPr>
              <a:defRPr sz="950">
                <a:solidFill>
                  <a:srgbClr val="6B7A99"/>
                </a:solidFill>
              </a:defRPr>
            </a:pPr>
            <a:r>
              <a:t>Feed: CWC River Gauges</a:t>
            </a:r>
            <a:br/>
            <a:r>
              <a:t>Monitors river heights &amp; danger marks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011680"/>
            <a:ext cx="3383280" cy="1280160"/>
          </a:xfrm>
          <a:prstGeom prst="roundRect">
            <a:avLst/>
          </a:prstGeom>
          <a:solidFill>
            <a:srgbClr val="0F1420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⛰️ GeoRisk</a:t>
            </a:r>
          </a:p>
          <a:p>
            <a:pPr>
              <a:defRPr sz="950">
                <a:solidFill>
                  <a:srgbClr val="6B7A99"/>
                </a:solidFill>
              </a:defRPr>
            </a:pPr>
            <a:r>
              <a:t>Feed: GSI Landslide Indices</a:t>
            </a:r>
            <a:br/>
            <a:r>
              <a:t>Calculates soil shear &amp; slope hazard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74720"/>
            <a:ext cx="3383280" cy="1280160"/>
          </a:xfrm>
          <a:prstGeom prst="roundRect">
            <a:avLst/>
          </a:prstGeom>
          <a:solidFill>
            <a:srgbClr val="0F1420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🗺️ RouteOptimizer</a:t>
            </a:r>
          </a:p>
          <a:p>
            <a:pPr>
              <a:defRPr sz="950">
                <a:solidFill>
                  <a:srgbClr val="6B7A99"/>
                </a:solidFill>
              </a:defRPr>
            </a:pPr>
            <a:r>
              <a:t>Feed: MapmyIndia (Mappls) API</a:t>
            </a:r>
            <a:br/>
            <a:r>
              <a:t>Computes detours around blocked roads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3474720"/>
            <a:ext cx="3383280" cy="1280160"/>
          </a:xfrm>
          <a:prstGeom prst="roundRect">
            <a:avLst/>
          </a:prstGeom>
          <a:solidFill>
            <a:srgbClr val="0F1420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📱 AlertBroadcast</a:t>
            </a:r>
          </a:p>
          <a:p>
            <a:pPr>
              <a:defRPr sz="950">
                <a:solidFill>
                  <a:srgbClr val="6B7A99"/>
                </a:solidFill>
              </a:defRPr>
            </a:pPr>
            <a:r>
              <a:t>Feed: NDMA Sachet Gateway</a:t>
            </a:r>
            <a:br/>
            <a:r>
              <a:t>Formats &amp; dispatches multilingual CAP alerts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3474720"/>
            <a:ext cx="3383280" cy="1280160"/>
          </a:xfrm>
          <a:prstGeom prst="roundRect">
            <a:avLst/>
          </a:prstGeom>
          <a:solidFill>
            <a:srgbClr val="0F1420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🏥 MedResponse</a:t>
            </a:r>
          </a:p>
          <a:p>
            <a:pPr>
              <a:defRPr sz="950">
                <a:solidFill>
                  <a:srgbClr val="6B7A99"/>
                </a:solidFill>
              </a:defRPr>
            </a:pPr>
            <a:r>
              <a:t>Feed: 108 Health API</a:t>
            </a:r>
            <a:br/>
            <a:r>
              <a:t>Triages hospital ICU beds &amp; ambulances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37760"/>
            <a:ext cx="3383280" cy="1280160"/>
          </a:xfrm>
          <a:prstGeom prst="roundRect">
            <a:avLst/>
          </a:prstGeom>
          <a:solidFill>
            <a:srgbClr val="0F1420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👥 PopDensity</a:t>
            </a:r>
          </a:p>
          <a:p>
            <a:pPr>
              <a:defRPr sz="950">
                <a:solidFill>
                  <a:srgbClr val="6B7A99"/>
                </a:solidFill>
              </a:defRPr>
            </a:pPr>
            <a:r>
              <a:t>Feed: Census Spatial Polygons</a:t>
            </a:r>
            <a:br/>
            <a:r>
              <a:t>Estimates households in hazard zone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4937760"/>
            <a:ext cx="3383280" cy="1280160"/>
          </a:xfrm>
          <a:prstGeom prst="roundRect">
            <a:avLst/>
          </a:prstGeom>
          <a:solidFill>
            <a:srgbClr val="0F1420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🏗️ InfraWatch</a:t>
            </a:r>
          </a:p>
          <a:p>
            <a:pPr>
              <a:defRPr sz="950">
                <a:solidFill>
                  <a:srgbClr val="6B7A99"/>
                </a:solidFill>
              </a:defRPr>
            </a:pPr>
            <a:r>
              <a:t>Feed: NHAI &amp; Rail Sensors</a:t>
            </a:r>
            <a:br/>
            <a:r>
              <a:t>Monitors bridge integrity &amp; railway tracks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4937760"/>
            <a:ext cx="3383280" cy="1280160"/>
          </a:xfrm>
          <a:prstGeom prst="roundRect">
            <a:avLst/>
          </a:prstGeom>
          <a:solidFill>
            <a:srgbClr val="0F1420"/>
          </a:solidFill>
          <a:ln>
            <a:solidFill>
              <a:srgbClr val="FF4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🎖️ Commander Core</a:t>
            </a:r>
          </a:p>
          <a:p>
            <a:pPr>
              <a:defRPr sz="950">
                <a:solidFill>
                  <a:srgbClr val="6B7A99"/>
                </a:solidFill>
              </a:defRPr>
            </a:pPr>
            <a:r>
              <a:t>Feed: Orchestrator Core</a:t>
            </a:r>
            <a:br/>
            <a:r>
              <a:t>Synthesizes data &amp; executes binding orders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5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05 / CORE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Real Indian Telemetry Data Feeds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B7A99"/>
                </a:solidFill>
                <a:latin typeface="Arial"/>
              </a:defRPr>
            </a:pPr>
            <a:r>
              <a:t>Direct integration with statutory Indian emergency data providers.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83280" cy="1920240"/>
          </a:xfrm>
          <a:prstGeom prst="roundRect">
            <a:avLst/>
          </a:prstGeom>
          <a:solidFill>
            <a:srgbClr val="0F1420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F0FF"/>
                </a:solidFill>
              </a:defRPr>
            </a:pPr>
            <a:r>
              <a:t>01. IMD Doppler Weather Radar</a:t>
            </a:r>
          </a:p>
          <a:p>
            <a:br/>
            <a:pPr>
              <a:defRPr sz="1100">
                <a:solidFill>
                  <a:srgbClr val="E8EDF5"/>
                </a:solidFill>
              </a:defRPr>
            </a:pPr>
            <a:r>
              <a:t>Real-time reflectivity (Z factor) and cloud azimuth density mapping.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011680"/>
            <a:ext cx="3383280" cy="1920240"/>
          </a:xfrm>
          <a:prstGeom prst="roundRect">
            <a:avLst/>
          </a:prstGeom>
          <a:solidFill>
            <a:srgbClr val="0F1420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F0FF"/>
                </a:solidFill>
              </a:defRPr>
            </a:pPr>
            <a:r>
              <a:t>02. CWC River Gauge Network</a:t>
            </a:r>
          </a:p>
          <a:p>
            <a:br/>
            <a:pPr>
              <a:defRPr sz="1100">
                <a:solidFill>
                  <a:srgbClr val="E8EDF5"/>
                </a:solidFill>
              </a:defRPr>
            </a:pPr>
            <a:r>
              <a:t>Scrapes station water levels, discharge cusecs, and statutory danger marks.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011680"/>
            <a:ext cx="3383280" cy="1920240"/>
          </a:xfrm>
          <a:prstGeom prst="roundRect">
            <a:avLst/>
          </a:prstGeom>
          <a:solidFill>
            <a:srgbClr val="0F1420"/>
          </a:solidFill>
          <a:ln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7B61FF"/>
                </a:solidFill>
              </a:defRPr>
            </a:pPr>
            <a:r>
              <a:t>03. GSI Landslide Susceptibility</a:t>
            </a:r>
          </a:p>
          <a:p>
            <a:br/>
            <a:pPr>
              <a:defRPr sz="1100">
                <a:solidFill>
                  <a:srgbClr val="E8EDF5"/>
                </a:solidFill>
              </a:defRPr>
            </a:pPr>
            <a:r>
              <a:t>Evaluates soil saturation, shear strength, and hill slope stability.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06240"/>
            <a:ext cx="3383280" cy="1920240"/>
          </a:xfrm>
          <a:prstGeom prst="roundRect">
            <a:avLst/>
          </a:prstGeom>
          <a:solidFill>
            <a:srgbClr val="0F1420"/>
          </a:solidFill>
          <a:ln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7B61FF"/>
                </a:solidFill>
              </a:defRPr>
            </a:pPr>
            <a:r>
              <a:t>04. MapmyIndia Detour Engine</a:t>
            </a:r>
          </a:p>
          <a:p>
            <a:br/>
            <a:pPr>
              <a:defRPr sz="1100">
                <a:solidFill>
                  <a:srgbClr val="E8EDF5"/>
                </a:solidFill>
              </a:defRPr>
            </a:pPr>
            <a:r>
              <a:t>Autonomous pathfinding rerouting rescue fleets away from NHAI landslides.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4206240"/>
            <a:ext cx="3383280" cy="1920240"/>
          </a:xfrm>
          <a:prstGeom prst="roundRect">
            <a:avLst/>
          </a:prstGeom>
          <a:solidFill>
            <a:srgbClr val="0F1420"/>
          </a:solidFill>
          <a:ln>
            <a:solidFill>
              <a:srgbClr val="FF4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4D6A"/>
                </a:solidFill>
              </a:defRPr>
            </a:pPr>
            <a:r>
              <a:t>05. NDMA Sachet Cell Broadcast</a:t>
            </a:r>
          </a:p>
          <a:p>
            <a:br/>
            <a:pPr>
              <a:defRPr sz="1100">
                <a:solidFill>
                  <a:srgbClr val="E8EDF5"/>
                </a:solidFill>
              </a:defRPr>
            </a:pPr>
            <a:r>
              <a:t>Multilingual cell-tower SMS warnings forced to phones in hazard polygons.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4206240"/>
            <a:ext cx="3383280" cy="1920240"/>
          </a:xfrm>
          <a:prstGeom prst="roundRect">
            <a:avLst/>
          </a:prstGeom>
          <a:solidFill>
            <a:srgbClr val="0F1420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E676"/>
                </a:solidFill>
              </a:defRPr>
            </a:pPr>
            <a:r>
              <a:t>06. 108 Emergency Health Triage</a:t>
            </a:r>
          </a:p>
          <a:p>
            <a:br/>
            <a:pPr>
              <a:defRPr sz="1100">
                <a:solidFill>
                  <a:srgbClr val="E8EDF5"/>
                </a:solidFill>
              </a:defRPr>
            </a:pPr>
            <a:r>
              <a:t>Real-time ICU/trauma bed availability matrix and ambulance dispatch.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5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06 / THE 'WOW' USP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Beyond Alerting: Real-Data Autonomous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B7A99"/>
                </a:solidFill>
                <a:latin typeface="Arial"/>
              </a:defRPr>
            </a:pPr>
            <a:r>
              <a:t>Why XNexus-CrisisOS stands out from legacy dashboard software.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83280" cy="1920240"/>
          </a:xfrm>
          <a:prstGeom prst="roundRect">
            <a:avLst/>
          </a:prstGeom>
          <a:solidFill>
            <a:srgbClr val="0F1420"/>
          </a:solidFill>
          <a:ln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01. Multi-Agency Data Fusion</a:t>
            </a:r>
          </a:p>
          <a:p>
            <a:br/>
            <a:pPr>
              <a:defRPr sz="1100">
                <a:solidFill>
                  <a:srgbClr val="E8EDF5"/>
                </a:solidFill>
              </a:defRPr>
            </a:pPr>
            <a:r>
              <a:t>Agents from IMD, CWC, NDRF, MapmyIndia, and 108-Health share a semantic memory space.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011680"/>
            <a:ext cx="3383280" cy="1920240"/>
          </a:xfrm>
          <a:prstGeom prst="roundRect">
            <a:avLst/>
          </a:prstGeom>
          <a:solidFill>
            <a:srgbClr val="0F1420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02. CWC-to-Road Graph Intelligence</a:t>
            </a:r>
          </a:p>
          <a:p>
            <a:br/>
            <a:pPr>
              <a:defRPr sz="1100">
                <a:solidFill>
                  <a:srgbClr val="E8EDF5"/>
                </a:solidFill>
              </a:defRPr>
            </a:pPr>
            <a:r>
              <a:t>Flood inundation shapes directly overlay NHAI road graphs, auto-computing detours.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011680"/>
            <a:ext cx="3383280" cy="1920240"/>
          </a:xfrm>
          <a:prstGeom prst="roundRect">
            <a:avLst/>
          </a:prstGeom>
          <a:solidFill>
            <a:srgbClr val="0F1420"/>
          </a:solidFill>
          <a:ln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03. Multilingual Cell Broadcast</a:t>
            </a:r>
          </a:p>
          <a:p>
            <a:br/>
            <a:pPr>
              <a:defRPr sz="1100">
                <a:solidFill>
                  <a:srgbClr val="E8EDF5"/>
                </a:solidFill>
              </a:defRPr>
            </a:pPr>
            <a:r>
              <a:t>NDMA Sachet protocol pushes Hindi, English, and local alerts directly to cell towers.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06240"/>
            <a:ext cx="3383280" cy="1920240"/>
          </a:xfrm>
          <a:prstGeom prst="roundRect">
            <a:avLst/>
          </a:prstGeom>
          <a:solidFill>
            <a:srgbClr val="0F1420"/>
          </a:solidFill>
          <a:ln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04. Tested on Real Wayanad Data</a:t>
            </a:r>
          </a:p>
          <a:p>
            <a:br/>
            <a:pPr>
              <a:defRPr sz="1100">
                <a:solidFill>
                  <a:srgbClr val="E8EDF5"/>
                </a:solidFill>
              </a:defRPr>
            </a:pPr>
            <a:r>
              <a:t>Modeled against Kabini reservoir discharge records and 2024 Wayanad flood maps.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4206240"/>
            <a:ext cx="3383280" cy="1920240"/>
          </a:xfrm>
          <a:prstGeom prst="roundRect">
            <a:avLst/>
          </a:prstGeom>
          <a:solidFill>
            <a:srgbClr val="0F1420"/>
          </a:solidFill>
          <a:ln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05. 100% India-Native Infrastructure</a:t>
            </a:r>
          </a:p>
          <a:p>
            <a:br/>
            <a:pPr>
              <a:defRPr sz="1100">
                <a:solidFill>
                  <a:srgbClr val="E8EDF5"/>
                </a:solidFill>
              </a:defRPr>
            </a:pPr>
            <a:r>
              <a:t>Zero dependency on foreign mapping or cloud tools. Built on Indian APIs.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4206240"/>
            <a:ext cx="3383280" cy="1920240"/>
          </a:xfrm>
          <a:prstGeom prst="roundRect">
            <a:avLst/>
          </a:prstGeom>
          <a:solidFill>
            <a:srgbClr val="0F1420"/>
          </a:solidFill>
          <a:ln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06. Zero-Latency Hospital Triage</a:t>
            </a:r>
          </a:p>
          <a:p>
            <a:br/>
            <a:pPr>
              <a:defRPr sz="1100">
                <a:solidFill>
                  <a:srgbClr val="E8EDF5"/>
                </a:solidFill>
              </a:defRPr>
            </a:pPr>
            <a:r>
              <a:t>Queries 108 health API to route casualties only to hospitals with verified ICU beds.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5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07 /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Model Context Protocol (MCP) Integration Mesh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B7A99"/>
                </a:solidFill>
                <a:latin typeface="Arial"/>
              </a:defRPr>
            </a:pPr>
            <a:r>
              <a:t>Open standard connecting LLM agents to government APIs via JSON-RPC.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607040" cy="4297680"/>
          </a:xfrm>
          <a:prstGeom prst="roundRect">
            <a:avLst/>
          </a:prstGeom>
          <a:solidFill>
            <a:srgbClr val="0F1420"/>
          </a:solidFill>
          <a:ln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7B61FF"/>
                </a:solidFill>
              </a:defRPr>
            </a:pPr>
            <a:r>
              <a:t>MCP SERVER RACK ARCHITECTURE</a:t>
            </a:r>
          </a:p>
          <a:p>
            <a:pPr>
              <a:defRPr sz="1200">
                <a:solidFill>
                  <a:srgbClr val="E8EDF5"/>
                </a:solidFill>
              </a:defRPr>
            </a:pPr>
            <a:r>
              <a:t>• MCP-IMD-WEATHER  --&gt; Scrapes INSAT-3D infrared cloud temperature and Doppler Z-reflectivity.</a:t>
            </a:r>
          </a:p>
          <a:p>
            <a:pPr>
              <a:defRPr sz="1200">
                <a:solidFill>
                  <a:srgbClr val="E8EDF5"/>
                </a:solidFill>
              </a:defRPr>
            </a:pPr>
            <a:r>
              <a:t>• MCP-CWC-HYDRO    --&gt; Parses Central Water Commission river gauge station water levels &amp; discharge rates.</a:t>
            </a:r>
          </a:p>
          <a:p>
            <a:pPr>
              <a:defRPr sz="1200">
                <a:solidFill>
                  <a:srgbClr val="E8EDF5"/>
                </a:solidFill>
              </a:defRPr>
            </a:pPr>
            <a:r>
              <a:t>• MCP-GSI-GEO      --&gt; Evaluates GSI landslide hazard zonation GIS layers &amp; soil moisture indices.</a:t>
            </a:r>
          </a:p>
          <a:p>
            <a:pPr>
              <a:defRPr sz="1200">
                <a:solidFill>
                  <a:srgbClr val="E8EDF5"/>
                </a:solidFill>
              </a:defRPr>
            </a:pPr>
            <a:r>
              <a:t>• MCP-MAPMYINDIA   --&gt; Connects to MapmyIndia routing engine to compute emergency bypass routes.</a:t>
            </a:r>
          </a:p>
          <a:p>
            <a:pPr>
              <a:defRPr sz="1200">
                <a:solidFill>
                  <a:srgbClr val="E8EDF5"/>
                </a:solidFill>
              </a:defRPr>
            </a:pPr>
            <a:r>
              <a:t>• MCP-NDMA-SACHET  --&gt; Formats OASIS CAP v1.2 XML cell broadcast payloads for target mobile towers.</a:t>
            </a:r>
          </a:p>
          <a:p>
            <a:pPr>
              <a:defRPr sz="1200">
                <a:solidFill>
                  <a:srgbClr val="E8EDF5"/>
                </a:solidFill>
              </a:defRPr>
            </a:pPr>
            <a:r>
              <a:t>• MCP-108-HEALTH   --&gt; Queries state 108 emergency health databases for live ICU bed availability.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5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08 / DEVELOPMENT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End-to-End Technical Development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B7A99"/>
                </a:solidFill>
                <a:latin typeface="Arial"/>
              </a:defRPr>
            </a:pPr>
            <a:r>
              <a:t>The complete 5-step engineering pipeline from raw data scrapers to cell dispatch.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0607040" cy="777240"/>
          </a:xfrm>
          <a:prstGeom prst="roundRect">
            <a:avLst/>
          </a:prstGeom>
          <a:solidFill>
            <a:srgbClr val="0F1420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F0FF"/>
                </a:solidFill>
              </a:defRPr>
            </a:pPr>
            <a:r>
              <a:t>STEP 01: Telemetry Data Scrapers</a:t>
            </a:r>
          </a:p>
          <a:p>
            <a:pPr>
              <a:defRPr sz="1050">
                <a:solidFill>
                  <a:srgbClr val="E8EDF5"/>
                </a:solidFill>
              </a:defRPr>
            </a:pPr>
            <a:r>
              <a:t>Ingests IMD Doppler radar reflectivity, CWC water levels, and GSI soil layers into JSON feeds every 15 min.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80360"/>
            <a:ext cx="10607040" cy="777240"/>
          </a:xfrm>
          <a:prstGeom prst="roundRect">
            <a:avLst/>
          </a:prstGeom>
          <a:solidFill>
            <a:srgbClr val="0F1420"/>
          </a:solidFill>
          <a:ln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7B61FF"/>
                </a:solidFill>
              </a:defRPr>
            </a:pPr>
            <a:r>
              <a:t>STEP 02: FastMCP Tool Servers</a:t>
            </a:r>
          </a:p>
          <a:p>
            <a:pPr>
              <a:defRPr sz="1050">
                <a:solidFill>
                  <a:srgbClr val="E8EDF5"/>
                </a:solidFill>
              </a:defRPr>
            </a:pPr>
            <a:r>
              <a:t>Wraps government endpoints into standardized Model Context Protocol (MCP) JSON-RPC tool servers.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39"/>
            <a:ext cx="10607040" cy="777240"/>
          </a:xfrm>
          <a:prstGeom prst="roundRect">
            <a:avLst/>
          </a:prstGeom>
          <a:solidFill>
            <a:srgbClr val="0F1420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F0FF"/>
                </a:solidFill>
              </a:defRPr>
            </a:pPr>
            <a:r>
              <a:t>STEP 03: LangGraph State Engine</a:t>
            </a:r>
          </a:p>
          <a:p>
            <a:pPr>
              <a:defRPr sz="1050">
                <a:solidFill>
                  <a:srgbClr val="E8EDF5"/>
                </a:solidFill>
              </a:defRPr>
            </a:pPr>
            <a:r>
              <a:t>Constructs an event-driven DisasterState graph coordinating Weather, Hydro, GeoRisk, and Commander agents.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17720"/>
            <a:ext cx="10607040" cy="777240"/>
          </a:xfrm>
          <a:prstGeom prst="roundRect">
            <a:avLst/>
          </a:prstGeom>
          <a:solidFill>
            <a:srgbClr val="0F1420"/>
          </a:solidFill>
          <a:ln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7B61FF"/>
                </a:solidFill>
              </a:defRPr>
            </a:pPr>
            <a:r>
              <a:t>STEP 04: PostGIS Spatial GIS Engine</a:t>
            </a:r>
          </a:p>
          <a:p>
            <a:pPr>
              <a:defRPr sz="1050">
                <a:solidFill>
                  <a:srgbClr val="E8EDF5"/>
                </a:solidFill>
              </a:defRPr>
            </a:pPr>
            <a:r>
              <a:t>Intersects flood shapes with Census block demographics and computes bypass detours via MapmyIndia.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486400"/>
            <a:ext cx="10607040" cy="777240"/>
          </a:xfrm>
          <a:prstGeom prst="roundRect">
            <a:avLst/>
          </a:prstGeom>
          <a:solidFill>
            <a:srgbClr val="0F1420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E676"/>
                </a:solidFill>
              </a:defRPr>
            </a:pPr>
            <a:r>
              <a:t>STEP 05: Dispatch &amp; UI Synchronization</a:t>
            </a:r>
          </a:p>
          <a:p>
            <a:pPr>
              <a:defRPr sz="1050">
                <a:solidFill>
                  <a:srgbClr val="E8EDF5"/>
                </a:solidFill>
              </a:defRPr>
            </a:pPr>
            <a:r>
              <a:t>Dispatches CAP XML alerts to NDMA Sachet cell towers, triages 108 hospital beds, and syncs UI via WebSockets.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5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09 / CODE SPECS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Production Engineering Code &amp; API Schemas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B7A99"/>
                </a:solidFill>
                <a:latin typeface="Arial"/>
              </a:defRPr>
            </a:pPr>
            <a:r>
              <a:t>Key backend script components powering XNexus-CrisisOS.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4297680"/>
          </a:xfrm>
          <a:prstGeom prst="roundRect">
            <a:avLst/>
          </a:prstGeom>
          <a:solidFill>
            <a:srgbClr val="0F1420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F0FF"/>
                </a:solidFill>
              </a:defRPr>
            </a:pPr>
            <a:r>
              <a:t>1. PYTHON FastMCP SERVER (mcp_cwc_server.py)</a:t>
            </a:r>
          </a:p>
          <a:p>
            <a:pPr>
              <a:defRPr sz="950">
                <a:solidFill>
                  <a:srgbClr val="E8EDF5"/>
                </a:solidFill>
                <a:latin typeface="Courier New"/>
              </a:defRPr>
            </a:pPr>
            <a:r>
              <a:t>from fastmcp import FastMCP</a:t>
            </a:r>
            <a:br/>
            <a:br/>
            <a:r>
              <a:t>mcp = FastMCP("CWC-Hydrology-Server")</a:t>
            </a:r>
            <a:br/>
            <a:br/>
            <a:r>
              <a:t>@mcp.tool()</a:t>
            </a:r>
            <a:br/>
            <a:r>
              <a:t>async def get_river_level(station_id: str) -&gt; dict:</a:t>
            </a:r>
            <a:br/>
            <a:r>
              <a:t>    return CWC_DB.get(station_id)</a:t>
            </a:r>
            <a:br/>
            <a:br/>
            <a:r>
              <a:t>@mcp.tool()</a:t>
            </a:r>
            <a:br/>
            <a:r>
              <a:t>async def check_danger_breach(station_id: str) -&gt; dict:</a:t>
            </a:r>
            <a:br/>
            <a:r>
              <a:t>    data = await get_river_level(station_id)</a:t>
            </a:r>
            <a:br/>
            <a:r>
              <a:t>    current, danger = data["current"], data["danger"]</a:t>
            </a:r>
            <a:br/>
            <a:r>
              <a:t>    return {</a:t>
            </a:r>
            <a:br/>
            <a:r>
              <a:t>        "status": "CRITICAL" if current &gt;= danger else "NORMAL",</a:t>
            </a:r>
            <a:br/>
            <a:r>
              <a:t>        "breach_meters": current - danger</a:t>
            </a:r>
            <a:br/>
            <a:r>
              <a:t>    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120640" cy="4297680"/>
          </a:xfrm>
          <a:prstGeom prst="roundRect">
            <a:avLst/>
          </a:prstGeom>
          <a:solidFill>
            <a:srgbClr val="0F1420"/>
          </a:solidFill>
          <a:ln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7B61FF"/>
                </a:solidFill>
              </a:defRPr>
            </a:pPr>
            <a:r>
              <a:t>2. LANGGRAPH ORCHESTRATOR (agent_orchestrator.py)</a:t>
            </a:r>
          </a:p>
          <a:p>
            <a:pPr>
              <a:defRPr sz="950">
                <a:solidFill>
                  <a:srgbClr val="E8EDF5"/>
                </a:solidFill>
                <a:latin typeface="Courier New"/>
              </a:defRPr>
            </a:pPr>
            <a:r>
              <a:t>class DisasterState(TypedDict):</a:t>
            </a:r>
            <a:br/>
            <a:r>
              <a:t>    incident_active: bool</a:t>
            </a:r>
            <a:br/>
            <a:r>
              <a:t>    rainfall_rate_mm_hr: float</a:t>
            </a:r>
            <a:br/>
            <a:r>
              <a:t>    landslide_risk_score: float</a:t>
            </a:r>
            <a:br/>
            <a:r>
              <a:t>    recommended_action: str</a:t>
            </a:r>
            <a:br/>
            <a:r>
              <a:t>    evacuation_routes: List[str]</a:t>
            </a:r>
            <a:br/>
            <a:br/>
            <a:r>
              <a:t>def commander_agent(state: DisasterState):</a:t>
            </a:r>
            <a:br/>
            <a:r>
              <a:t>    if state["landslide_risk_score"] &gt; 0.75:</a:t>
            </a:r>
            <a:br/>
            <a:r>
              <a:t>        return {</a:t>
            </a:r>
            <a:br/>
            <a:r>
              <a:t>            "recommended_action": "EVACUATE Sector B-4",</a:t>
            </a:r>
            <a:br/>
            <a:r>
              <a:t>            "evacuation_routes": ["Route 3 East Bypass"],</a:t>
            </a:r>
            <a:br/>
            <a:r>
              <a:t>            "incident_active": True</a:t>
            </a:r>
            <a:br/>
            <a:r>
              <a:t>        }</a:t>
            </a:r>
            <a:br/>
            <a:br/>
            <a:r>
              <a:t>workflow = StateGraph(DisasterState)</a:t>
            </a:r>
            <a:br/>
            <a:r>
              <a:t>workflow.add_node("Weather", weather_agent)</a:t>
            </a:r>
            <a:br/>
            <a:r>
              <a:t>workflow.add_node("Commander", commander_agent)</a:t>
            </a:r>
            <a:br/>
            <a:r>
              <a:t>workflow.add_edge("Weather", "Commander")</a:t>
            </a:r>
            <a:br/>
            <a:r>
              <a:t>app = workflow.compile()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5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10 / SYSTEM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Telemetry to Execution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B7A99"/>
                </a:solidFill>
                <a:latin typeface="Arial"/>
              </a:defRPr>
            </a:pPr>
            <a:r>
              <a:t>4-stage continuous disaster monitoring and dispatch lifecycle.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2468880" cy="3474720"/>
          </a:xfrm>
          <a:prstGeom prst="roundRect">
            <a:avLst/>
          </a:prstGeom>
          <a:solidFill>
            <a:srgbClr val="0F1420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F0FF"/>
                </a:solidFill>
              </a:defRPr>
            </a:pPr>
            <a:r>
              <a:t>01. INGEST</a:t>
            </a:r>
          </a:p>
          <a:p>
            <a:br/>
            <a:pPr>
              <a:defRPr sz="1100">
                <a:solidFill>
                  <a:srgbClr val="E8EDF5"/>
                </a:solidFill>
              </a:defRPr>
            </a:pPr>
            <a:r>
              <a:t>Telemetry Streams</a:t>
            </a:r>
            <a:br/>
            <a:br/>
            <a:r>
              <a:t>Scrapes IMD doppler radar &amp; CWC gauges every 15 min.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286000"/>
            <a:ext cx="2468880" cy="3474720"/>
          </a:xfrm>
          <a:prstGeom prst="roundRect">
            <a:avLst/>
          </a:prstGeom>
          <a:solidFill>
            <a:srgbClr val="0F1420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F0FF"/>
                </a:solidFill>
              </a:defRPr>
            </a:pPr>
            <a:r>
              <a:t>02. PROFILE</a:t>
            </a:r>
          </a:p>
          <a:p>
            <a:br/>
            <a:pPr>
              <a:defRPr sz="1100">
                <a:solidFill>
                  <a:srgbClr val="E8EDF5"/>
                </a:solidFill>
              </a:defRPr>
            </a:pPr>
            <a:r>
              <a:t>Risk Assessment</a:t>
            </a:r>
            <a:br/>
            <a:br/>
            <a:r>
              <a:t>Computes landslide susceptibility &amp; inundation zones.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286000"/>
            <a:ext cx="2468880" cy="3474720"/>
          </a:xfrm>
          <a:prstGeom prst="roundRect">
            <a:avLst/>
          </a:prstGeom>
          <a:solidFill>
            <a:srgbClr val="0F1420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F0FF"/>
                </a:solidFill>
              </a:defRPr>
            </a:pPr>
            <a:r>
              <a:t>03. SIMULATE</a:t>
            </a:r>
          </a:p>
          <a:p>
            <a:br/>
            <a:pPr>
              <a:defRPr sz="1100">
                <a:solidFill>
                  <a:srgbClr val="E8EDF5"/>
                </a:solidFill>
              </a:defRPr>
            </a:pPr>
            <a:r>
              <a:t>Plan Generation</a:t>
            </a:r>
            <a:br/>
            <a:br/>
            <a:r>
              <a:t>Calculates evacuation routes via MapmyIndia API.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2286000"/>
            <a:ext cx="2468880" cy="3474720"/>
          </a:xfrm>
          <a:prstGeom prst="roundRect">
            <a:avLst/>
          </a:prstGeom>
          <a:solidFill>
            <a:srgbClr val="0F1420"/>
          </a:solidFill>
          <a:ln>
            <a:solidFill>
              <a:srgbClr val="FF4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4D6A"/>
                </a:solidFill>
              </a:defRPr>
            </a:pPr>
            <a:r>
              <a:t>04. EXECUTE</a:t>
            </a:r>
          </a:p>
          <a:p>
            <a:br/>
            <a:pPr>
              <a:defRPr sz="1100">
                <a:solidFill>
                  <a:srgbClr val="E8EDF5"/>
                </a:solidFill>
              </a:defRPr>
            </a:pPr>
            <a:r>
              <a:t>Action Dispatch</a:t>
            </a:r>
            <a:br/>
            <a:br/>
            <a:r>
              <a:t>Dispatches NDMA Sachet cell warnings &amp; 108 ICU beds.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5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11 / PROJECTED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Target Safety &amp; Performance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B7A99"/>
                </a:solidFill>
                <a:latin typeface="Arial"/>
              </a:defRPr>
            </a:pPr>
            <a:r>
              <a:t>Empirical performance targets for XNexus-CrisisOS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291840" cy="2011680"/>
          </a:xfrm>
          <a:prstGeom prst="roundRect">
            <a:avLst/>
          </a:prstGeom>
          <a:solidFill>
            <a:srgbClr val="0F1420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00F0FF"/>
                </a:solidFill>
              </a:defRPr>
            </a:pPr>
            <a:r>
              <a:t>&lt; 5 min</a:t>
            </a:r>
          </a:p>
          <a:p>
            <a:pPr>
              <a:defRPr sz="1100">
                <a:solidFill>
                  <a:srgbClr val="E8EDF5"/>
                </a:solidFill>
              </a:defRPr>
            </a:pPr>
            <a:r>
              <a:t>RESPONSE TIME</a:t>
            </a:r>
            <a:br/>
            <a:r>
              <a:t>From gauge trigger to cell broadcast.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11680"/>
            <a:ext cx="3291840" cy="2011680"/>
          </a:xfrm>
          <a:prstGeom prst="roundRect">
            <a:avLst/>
          </a:prstGeom>
          <a:solidFill>
            <a:srgbClr val="0F1420"/>
          </a:solidFill>
          <a:ln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7B61FF"/>
                </a:solidFill>
              </a:defRPr>
            </a:pPr>
            <a:r>
              <a:t>840+</a:t>
            </a:r>
          </a:p>
          <a:p>
            <a:pPr>
              <a:defRPr sz="1100">
                <a:solidFill>
                  <a:srgbClr val="E8EDF5"/>
                </a:solidFill>
              </a:defRPr>
            </a:pPr>
            <a:r>
              <a:t>HOUSEHOLDS COVERED</a:t>
            </a:r>
            <a:br/>
            <a:r>
              <a:t>Per targeted warning polygon.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011680"/>
            <a:ext cx="3291840" cy="2011680"/>
          </a:xfrm>
          <a:prstGeom prst="roundRect">
            <a:avLst/>
          </a:prstGeom>
          <a:solidFill>
            <a:srgbClr val="0F1420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200" b="1">
                <a:solidFill>
                  <a:srgbClr val="00E676"/>
                </a:solidFill>
              </a:defRPr>
            </a:pPr>
            <a:r>
              <a:t>9</a:t>
            </a:r>
          </a:p>
          <a:p>
            <a:pPr>
              <a:defRPr sz="1100">
                <a:solidFill>
                  <a:srgbClr val="E8EDF5"/>
                </a:solidFill>
              </a:defRPr>
            </a:pPr>
            <a:r>
              <a:t>AI AGENTS ACTIVE</a:t>
            </a:r>
            <a:br/>
            <a:r>
              <a:t>Collaborating in shared memory.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97680"/>
            <a:ext cx="10607040" cy="1828800"/>
          </a:xfrm>
          <a:prstGeom prst="roundRect">
            <a:avLst/>
          </a:prstGeom>
          <a:solidFill>
            <a:srgbClr val="0F1420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F0FF"/>
                </a:solidFill>
              </a:defRPr>
            </a:pPr>
            <a:r>
              <a:t>OPERATIONAL PERFORMANCE TARGETS</a:t>
            </a:r>
          </a:p>
          <a:p>
            <a:pPr>
              <a:defRPr sz="1100">
                <a:solidFill>
                  <a:srgbClr val="E8EDF5"/>
                </a:solidFill>
              </a:defRPr>
            </a:pPr>
            <a:r>
              <a:t>• 90% Warning Speedup: Cuts traditional 100-minute manual delay down to under 5 minutes.</a:t>
            </a:r>
            <a:br/>
            <a:r>
              <a:t>• 75% Resource Efficiency: Eliminates duplicate NDRF dispatches &amp; optimizes ambulance routes.</a:t>
            </a:r>
            <a:br/>
            <a:r>
              <a:t>• 85% Evacuation Compliance: Localized multilingual cell broadcasts increase compliance rates.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05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0FF"/>
                </a:solidFill>
                <a:latin typeface="Arial"/>
              </a:defRPr>
            </a:pPr>
            <a:r>
              <a:t>12 / DEVELOPMENT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Development Blueprint &amp; Expansion Phases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B7A99"/>
                </a:solidFill>
                <a:latin typeface="Arial"/>
              </a:defRPr>
            </a:pPr>
            <a:r>
              <a:t>Scaling XNexus-CrisisOS across India's disaster management framework.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383280" cy="3291840"/>
          </a:xfrm>
          <a:prstGeom prst="roundRect">
            <a:avLst/>
          </a:prstGeom>
          <a:solidFill>
            <a:srgbClr val="0F1420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F0FF"/>
                </a:solidFill>
              </a:defRPr>
            </a:pPr>
            <a:r>
              <a:t>PHASE 1 — NOW (MVP)</a:t>
            </a:r>
          </a:p>
          <a:p>
            <a:br/>
            <a:pPr>
              <a:defRPr sz="1100">
                <a:solidFill>
                  <a:srgbClr val="E8EDF5"/>
                </a:solidFill>
              </a:defRPr>
            </a:pPr>
            <a:r>
              <a:t>Hackathon Prototype</a:t>
            </a:r>
            <a:br/>
            <a:br/>
            <a:r>
              <a:t>Core 9-agent architecture, FastMCP servers, Wayanad flood scenario proof-of-concept.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011680"/>
            <a:ext cx="3383280" cy="3291840"/>
          </a:xfrm>
          <a:prstGeom prst="roundRect">
            <a:avLst/>
          </a:prstGeom>
          <a:solidFill>
            <a:srgbClr val="0F1420"/>
          </a:solidFill>
          <a:ln>
            <a:solidFill>
              <a:srgbClr val="7B6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7B61FF"/>
                </a:solidFill>
              </a:defRPr>
            </a:pPr>
            <a:r>
              <a:t>PHASE 2 — Q3 2026</a:t>
            </a:r>
          </a:p>
          <a:p>
            <a:br/>
            <a:pPr>
              <a:defRPr sz="1100">
                <a:solidFill>
                  <a:srgbClr val="E8EDF5"/>
                </a:solidFill>
              </a:defRPr>
            </a:pPr>
            <a:r>
              <a:t>State-Level Pilots</a:t>
            </a:r>
            <a:br/>
            <a:br/>
            <a:r>
              <a:t>Deploy across Kerala SDMA &amp; Uttarakhand SDMA. Live 108 health API &amp; NDMA Sachet connections.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011680"/>
            <a:ext cx="3383280" cy="3291840"/>
          </a:xfrm>
          <a:prstGeom prst="roundRect">
            <a:avLst/>
          </a:prstGeom>
          <a:solidFill>
            <a:srgbClr val="0F1420"/>
          </a:solidFill>
          <a:ln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E676"/>
                </a:solidFill>
              </a:defRPr>
            </a:pPr>
            <a:r>
              <a:t>PHASE 3 — 2027</a:t>
            </a:r>
          </a:p>
          <a:p>
            <a:br/>
            <a:pPr>
              <a:defRPr sz="1100">
                <a:solidFill>
                  <a:srgbClr val="E8EDF5"/>
                </a:solidFill>
              </a:defRPr>
            </a:pPr>
            <a:r>
              <a:t>National Scale</a:t>
            </a:r>
            <a:br/>
            <a:br/>
            <a:r>
              <a:t>Full NDMA integration covering all 36 States &amp; UTs with cyclone, earthquake &amp; industrial alert modules.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57784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F0FF"/>
                </a:solidFill>
              </a:defRPr>
            </a:pPr>
            <a:r>
              <a:t>BUILT FOR INDIA. BY INDIA.</a:t>
            </a:r>
          </a:p>
          <a:p>
            <a:pPr algn="ctr">
              <a:defRPr sz="1100">
                <a:solidFill>
                  <a:srgbClr val="6B7A99"/>
                </a:solidFill>
              </a:defRPr>
            </a:pPr>
            <a:r>
              <a:t>Every API, telemetry stream, and mapping service is 100% Indian emergency infrastructure.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