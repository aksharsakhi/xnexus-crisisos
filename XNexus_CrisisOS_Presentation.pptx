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defRPr sz="1100" b="1">
                <a:solidFill>
                  <a:srgbClr val="00F0FF"/>
                </a:solidFill>
                <a:latin typeface="Arial"/>
              </a:defRPr>
            </a:pPr>
            <a:r>
              <a:t>XNEXUS — CRISISOS FOR INDIA</a:t>
            </a:r>
          </a:p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XNEXUS.OS</a:t>
            </a:r>
          </a:p>
          <a:p>
            <a:pPr algn="ctr">
              <a:defRPr sz="1600" b="1">
                <a:solidFill>
                  <a:srgbClr val="7B61FF"/>
                </a:solidFill>
                <a:latin typeface="Arial"/>
              </a:defRPr>
            </a:pPr>
            <a:r>
              <a:t>AUTONOMOUS DISASTER COMMAND CENTER</a:t>
            </a:r>
          </a:p>
          <a:p>
            <a:br/>
            <a:pPr algn="ctr">
              <a:defRPr sz="1350">
                <a:solidFill>
                  <a:srgbClr val="E8EDF5"/>
                </a:solidFill>
                <a:latin typeface="Arial"/>
              </a:defRPr>
            </a:pPr>
            <a:r>
              <a:t>An intelligent multi-agent operating system that predicts, coordinates, and autonomously manages disaster response in real time across India's most vulnerable regions.</a:t>
            </a:r>
          </a:p>
          <a:p>
            <a:br/>
            <a:pPr algn="ctr">
              <a:defRPr sz="1100" b="1">
                <a:solidFill>
                  <a:srgbClr val="00F0FF"/>
                </a:solidFill>
                <a:latin typeface="Arial"/>
              </a:defRPr>
            </a:pPr>
            <a:r>
              <a:t>TELEMETRY INTEGRATED: IMD Doppler Radar · CWC River Gauges · GSI Landslide Indices · MapmyIndia · NDMA Sachet · 108 Emergency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02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People Are Dying Because Agencies Can't Coordinate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India possesses world-class sensors (IMD, CWC, GSI), but they operate in absolute data silos. Manual phone chains create fatal delays.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1645920"/>
          </a:xfrm>
          <a:prstGeom prst="roundRect">
            <a:avLst/>
          </a:prstGeom>
          <a:solidFill>
            <a:srgbClr val="0E121E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4D6A"/>
                </a:solidFill>
              </a:defRPr>
            </a:pPr>
            <a:r>
              <a:t>2,000+ Deaths / Yr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Annual flood mortality in India (NDMA Report 2023).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920240"/>
            <a:ext cx="2468880" cy="1645920"/>
          </a:xfrm>
          <a:prstGeom prst="roundRect">
            <a:avLst/>
          </a:prstGeom>
          <a:solidFill>
            <a:srgbClr val="0E121E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4D6A"/>
                </a:solidFill>
              </a:defRPr>
            </a:pPr>
            <a:r>
              <a:t>$86 Billion Loss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Cumulative economic disaster loss 2000-2023 (World Bank).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2468880" cy="1645920"/>
          </a:xfrm>
          <a:prstGeom prst="roundRect">
            <a:avLst/>
          </a:prstGeom>
          <a:solidFill>
            <a:srgbClr val="0E121E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4D6A"/>
                </a:solidFill>
              </a:defRPr>
            </a:pPr>
            <a:r>
              <a:t>75% Districts At Risk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Three-fourths of Indian districts are disaster-prone.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920240"/>
            <a:ext cx="2468880" cy="1645920"/>
          </a:xfrm>
          <a:prstGeom prst="roundRect">
            <a:avLst/>
          </a:prstGeom>
          <a:solidFill>
            <a:srgbClr val="0E121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C107"/>
                </a:solidFill>
              </a:defRPr>
            </a:pPr>
            <a:r>
              <a:t>40M Hectares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Flood-exposed agricultural &amp; urban land in India (CWC).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10607040" cy="2560320"/>
          </a:xfrm>
          <a:prstGeom prst="roundRect">
            <a:avLst/>
          </a:prstGeom>
          <a:solidFill>
            <a:srgbClr val="0E121E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B61FF"/>
                </a:solidFill>
              </a:defRPr>
            </a:pPr>
            <a:r>
              <a:t>THE 100-MINUTE COORDINATION FRICTION PIPELINE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1. IMD Doppler Radar detects heavy precipitation surge (T + 0 min)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2. Weather alert sent via email/fax to District Magistrate (DM) office (T + 45 min delay)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3. DM office staff manually calls Central Water Commission (CWC) for river levels (T + 80 min delay)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4. NDRF &amp; SDRF rescue battalion commanders notified via phone calls (T + 95 min delay)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5. Standard sirens activated without route guidance or localized language broadcasts (T + 100+ min delay)</a:t>
            </a:r>
          </a:p>
          <a:p>
            <a:pPr>
              <a:defRPr sz="1050" b="1">
                <a:solidFill>
                  <a:srgbClr val="FF4D6A"/>
                </a:solidFill>
              </a:defRPr>
            </a:pPr>
            <a:r>
              <a:t>--&gt; CATASTROPHIC OUTCOME: Families receive under 10 minutes of actionable notice before floodwaters hit.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03 /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Real Historical Disasters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Empirical breakdown of past Indian disaster response failures caused by agency silos.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0E121E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WAYANAD LANDSLIDES (JULY 2024)</a:t>
            </a:r>
          </a:p>
          <a:p>
            <a:pPr>
              <a:defRPr sz="1050" b="1">
                <a:solidFill>
                  <a:srgbClr val="FF4D6A"/>
                </a:solidFill>
              </a:defRPr>
            </a:pPr>
            <a:r>
              <a:t>400+ Dead · Debris Flow</a:t>
            </a:r>
          </a:p>
          <a:p>
            <a:br/>
            <a:pPr>
              <a:defRPr sz="1000">
                <a:solidFill>
                  <a:srgbClr val="E8EDF5"/>
                </a:solidFill>
              </a:defRPr>
            </a:pPr>
            <a:r>
              <a:t>Landslides struck at 2:00 AM. CWC upstream gauges showed swelling rivers, GSI had high soil moisture indices, and IMD recorded heavy rain. Zero real-time data fusion occurred. Entire villages (Chooralmala, Mundakkai) were buried.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5120640" cy="2103120"/>
          </a:xfrm>
          <a:prstGeom prst="roundRect">
            <a:avLst/>
          </a:prstGeom>
          <a:solidFill>
            <a:srgbClr val="0E121E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KERALA FLOODS (AUGUST 2018)</a:t>
            </a:r>
          </a:p>
          <a:p>
            <a:pPr>
              <a:defRPr sz="1050" b="1">
                <a:solidFill>
                  <a:srgbClr val="FF4D6A"/>
                </a:solidFill>
              </a:defRPr>
            </a:pPr>
            <a:r>
              <a:t>483 Dead · 1.4M Displaced</a:t>
            </a:r>
          </a:p>
          <a:p>
            <a:br/>
            <a:pPr>
              <a:defRPr sz="1000">
                <a:solidFill>
                  <a:srgbClr val="E8EDF5"/>
                </a:solidFill>
              </a:defRPr>
            </a:pPr>
            <a:r>
              <a:t>35 major dams opened simultaneously without synchronized downstream inundation modeling. Rescue teams arrived 6+ hours late to high-risk zones due to unmapped road blockages.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2103120"/>
          </a:xfrm>
          <a:prstGeom prst="roundRect">
            <a:avLst/>
          </a:prstGeom>
          <a:solidFill>
            <a:srgbClr val="0E121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UTTARAKHAND OUTBURST (2023)</a:t>
            </a:r>
          </a:p>
          <a:p>
            <a:pPr>
              <a:defRPr sz="1050" b="1">
                <a:solidFill>
                  <a:srgbClr val="FFC107"/>
                </a:solidFill>
              </a:defRPr>
            </a:pPr>
            <a:r>
              <a:t>100+ Dead · Thousands Stranded</a:t>
            </a:r>
          </a:p>
          <a:p>
            <a:br/>
            <a:pPr>
              <a:defRPr sz="1000">
                <a:solidFill>
                  <a:srgbClr val="E8EDF5"/>
                </a:solidFill>
              </a:defRPr>
            </a:pPr>
            <a:r>
              <a:t>Glacial lake outburst flood. NHAI highway blockages were uncommunicated to incoming traffic. Emergency health facilities in Chamoli and Rudraprayag were overwhelmed due to zero bed triage.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206240"/>
            <a:ext cx="5120640" cy="2103120"/>
          </a:xfrm>
          <a:prstGeom prst="roundRect">
            <a:avLst/>
          </a:prstGeom>
          <a:solidFill>
            <a:srgbClr val="0E121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CYCLONE BIPARJOY (2023)</a:t>
            </a:r>
          </a:p>
          <a:p>
            <a:pPr>
              <a:defRPr sz="1050" b="1">
                <a:solidFill>
                  <a:srgbClr val="FFC107"/>
                </a:solidFill>
              </a:defRPr>
            </a:pPr>
            <a:r>
              <a:t>Coastal Storm Surges</a:t>
            </a:r>
          </a:p>
          <a:p>
            <a:br/>
            <a:pPr>
              <a:defRPr sz="1000">
                <a:solidFill>
                  <a:srgbClr val="E8EDF5"/>
                </a:solidFill>
              </a:defRPr>
            </a:pPr>
            <a:r>
              <a:t>High wind speeds and storm surges along Gujarat coast. Siren broadcasts lacked evacuation route pathfinding, leading to traffic bottlenecks along low-lying coastal roads.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04 /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What We're Building: XNexus-CrisisOS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Replacing the manual 100-minute phone-call chain with an autonomous multi-agent AI operating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0E121E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4D6A"/>
                </a:solidFill>
              </a:defRPr>
            </a:pPr>
            <a:r>
              <a:t>TODAY: MANUAL PHONE CHAIN (100+ MIN)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1. IMD Doppler detects rainfall surge (T + 0m)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2. Fax/Email alert sent to DM office (T + 45m)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3. DM office calls CWC for river data (T + 80m)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4. NDRF dispatched via voice call (T + 95m)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5. Standard sirens blown (no route guidance)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RESULT: 100+ minutes delay. Less than 10 min warning for families.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0E121E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WITH XNEXUS: AUTONOMOUS MESH (&lt; 5 MIN)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1. IMD, CWC, GSI feeds ingested concurrently via MCP (T + 0s)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2. WeatherIntel &amp; HydroMonitor agents reason jointly (T + 15s)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3. RouteOptimizer maps detours around blocked NHAI roads (T + 30s)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4. MedResponse triages 108 ICU hospital bed availability (T + 45s)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5. NDMA Sachet cell broadcast sent to local towers (T + 60s)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RESULT: Under 5 minutes total response. Automatic life-saving routing.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05 / 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India-Focused 9-Agentic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Nine specialized AI agents collaborating in real time using Indian government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132588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🛰️ WeatherIntel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IMD Doppler Radar &amp; INSAT-3D</a:t>
            </a:r>
            <a:br/>
            <a:r>
              <a:t>Tracks cloud reflectivity &amp; rain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3383280" cy="132588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🌊 HydroMonitor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CWC River Gauges</a:t>
            </a:r>
            <a:br/>
            <a:r>
              <a:t>Monitors river heights &amp; danger 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920240"/>
            <a:ext cx="3383280" cy="132588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⛰️ GeoRisk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GSI Landslide Indices</a:t>
            </a:r>
            <a:br/>
            <a:r>
              <a:t>Calculates soil shear &amp; slope hazard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3383280" cy="132588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🗺️ RouteOptimizer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MapmyIndia (Mappls) API</a:t>
            </a:r>
            <a:br/>
            <a:r>
              <a:t>Computes detours around blocked roads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383280"/>
            <a:ext cx="3383280" cy="132588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📱 AlertBroadcast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NDMA Sachet Gateway</a:t>
            </a:r>
            <a:br/>
            <a:r>
              <a:t>Formats &amp; dispatches multilingual CAP alerts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383280"/>
            <a:ext cx="3383280" cy="132588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🏥 MedResponse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108 Health API</a:t>
            </a:r>
            <a:br/>
            <a:r>
              <a:t>Triages hospital ICU beds &amp; ambulances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3383280" cy="132588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👥 PopDensity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Census Spatial Polygons</a:t>
            </a:r>
            <a:br/>
            <a:r>
              <a:t>Estimates households in hazard zone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846320"/>
            <a:ext cx="3383280" cy="132588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🏗️ InfraWatch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NHAI &amp; Rail Sensors</a:t>
            </a:r>
            <a:br/>
            <a:r>
              <a:t>Monitors bridge integrity &amp; railway tracks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846320"/>
            <a:ext cx="3383280" cy="1325880"/>
          </a:xfrm>
          <a:prstGeom prst="roundRect">
            <a:avLst/>
          </a:prstGeom>
          <a:solidFill>
            <a:srgbClr val="0E121E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🎖️ Commander Core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Orchestrator Core</a:t>
            </a:r>
            <a:br/>
            <a:r>
              <a:t>Synthesizes data &amp; executes binding orders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06 / 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Real Indian Telemetry Data Feeds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Direct integration with statutory Indian emergency data providers.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F0FF"/>
                </a:solidFill>
              </a:defRPr>
            </a:pPr>
            <a:r>
              <a:t>01. IMD Doppler Weather Radar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Real-time reflectivity (Z factor) and cloud azimuth density mapping.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338328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F0FF"/>
                </a:solidFill>
              </a:defRPr>
            </a:pPr>
            <a:r>
              <a:t>02. CWC River Gauge Network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Scrapes station water levels, discharge cusecs, and statutory danger 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920240"/>
            <a:ext cx="338328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7B61FF"/>
                </a:solidFill>
              </a:defRPr>
            </a:pPr>
            <a:r>
              <a:t>03. GSI Landslide Susceptibility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Evaluates soil saturation, shear strength, and hill slope stability.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38328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7B61FF"/>
                </a:solidFill>
              </a:defRPr>
            </a:pPr>
            <a:r>
              <a:t>04. MapmyIndia Detour Engine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Autonomous pathfinding rerouting rescue fleets away from NHAI landslides.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114800"/>
            <a:ext cx="338328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4D6A"/>
                </a:solidFill>
              </a:defRPr>
            </a:pPr>
            <a:r>
              <a:t>05. NDMA Sachet Cell Broadcast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Multilingual cell-tower SMS warnings forced to phones in hazard polygons.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114800"/>
            <a:ext cx="338328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E676"/>
                </a:solidFill>
              </a:defRPr>
            </a:pPr>
            <a:r>
              <a:t>06. 108 Emergency Health Triage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Real-time ICU/trauma bed availability matrix and ambulance dispatch.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07 / ALGORITHMIC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Mathematical Formulas &amp; Risk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Rigorous mathematical modeling driving multi-agent risk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1. IMD Radar Rain Rate Equation</a:t>
            </a:r>
          </a:p>
          <a:p>
            <a:pPr>
              <a:defRPr sz="1100" b="1">
                <a:solidFill>
                  <a:srgbClr val="00F0FF"/>
                </a:solidFill>
                <a:latin typeface="Courier New"/>
              </a:defRPr>
            </a:pPr>
            <a:r>
              <a:t>Formula: R = (Z / a) ** (1/b)</a:t>
            </a:r>
          </a:p>
          <a:p>
            <a:br/>
            <a:pPr>
              <a:defRPr sz="1000">
                <a:solidFill>
                  <a:srgbClr val="E8EDF5"/>
                </a:solidFill>
              </a:defRPr>
            </a:pPr>
            <a:r>
              <a:t>Where Z is radar reflectivity factor, a = 200, b = 1.6 (Marshall-Palmer relationship for monsoon clouds).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5120640" cy="210312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2. Landslide Susceptibility Index</a:t>
            </a:r>
          </a:p>
          <a:p>
            <a:pPr>
              <a:defRPr sz="1100" b="1">
                <a:solidFill>
                  <a:srgbClr val="00F0FF"/>
                </a:solidFill>
                <a:latin typeface="Courier New"/>
              </a:defRPr>
            </a:pPr>
            <a:r>
              <a:t>Formula: Risk = w1*Rain + w2*SoilSat + w3*tan(Slope)</a:t>
            </a:r>
          </a:p>
          <a:p>
            <a:br/>
            <a:pPr>
              <a:defRPr sz="1000">
                <a:solidFill>
                  <a:srgbClr val="E8EDF5"/>
                </a:solidFill>
              </a:defRPr>
            </a:pPr>
            <a:r>
              <a:t>Combines IMD precipitation rate, GSI soil shear saturation %, and DEM slope angle to yield a 0–1 risk index.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210312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3. River Danger Breach Margin</a:t>
            </a:r>
          </a:p>
          <a:p>
            <a:pPr>
              <a:defRPr sz="1100" b="1">
                <a:solidFill>
                  <a:srgbClr val="00F0FF"/>
                </a:solidFill>
                <a:latin typeface="Courier New"/>
              </a:defRPr>
            </a:pPr>
            <a:r>
              <a:t>Formula: Delta_H = H_current - H_danger</a:t>
            </a:r>
          </a:p>
          <a:p>
            <a:br/>
            <a:pPr>
              <a:defRPr sz="1000">
                <a:solidFill>
                  <a:srgbClr val="E8EDF5"/>
                </a:solidFill>
              </a:defRPr>
            </a:pPr>
            <a:r>
              <a:t>Calculates gauge elevation margin above statutory danger mark &amp; rate of rise (+cm/hr).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206240"/>
            <a:ext cx="5120640" cy="210312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4. Hospital Route Priority Score</a:t>
            </a:r>
          </a:p>
          <a:p>
            <a:pPr>
              <a:defRPr sz="1100" b="1">
                <a:solidFill>
                  <a:srgbClr val="00F0FF"/>
                </a:solidFill>
                <a:latin typeface="Courier New"/>
              </a:defRPr>
            </a:pPr>
            <a:r>
              <a:t>Formula: Score = ICU_beds / (Travel_time + 1.5 * Traffic_delay)</a:t>
            </a:r>
          </a:p>
          <a:p>
            <a:br/>
            <a:pPr>
              <a:defRPr sz="1000">
                <a:solidFill>
                  <a:srgbClr val="E8EDF5"/>
                </a:solidFill>
              </a:defRPr>
            </a:pPr>
            <a:r>
              <a:t>Ranks nearest trauma hospitals by real-time bed availability and MapmyIndia traffic ETA.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08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Model Context Protocol (MCP) Integration 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Open standard connecting LLM agents to government APIs via JSON-RPC.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07040" cy="4389120"/>
          </a:xfrm>
          <a:prstGeom prst="roundRect">
            <a:avLst/>
          </a:prstGeom>
          <a:solidFill>
            <a:srgbClr val="0E121E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B61FF"/>
                </a:solidFill>
              </a:defRPr>
            </a:pPr>
            <a:r>
              <a:t>MCP SERVER RACK ARCHITECTURE</a:t>
            </a:r>
          </a:p>
          <a:p>
            <a:pPr>
              <a:defRPr sz="1150">
                <a:solidFill>
                  <a:srgbClr val="E8EDF5"/>
                </a:solidFill>
              </a:defRPr>
            </a:pPr>
            <a:r>
              <a:t>• MCP-IMD-WEATHER  --&gt; Scrapes INSAT-3D infrared cloud temperature and Doppler Z-reflectivity.</a:t>
            </a:r>
          </a:p>
          <a:p>
            <a:pPr>
              <a:defRPr sz="1150">
                <a:solidFill>
                  <a:srgbClr val="E8EDF5"/>
                </a:solidFill>
              </a:defRPr>
            </a:pPr>
            <a:r>
              <a:t>• MCP-CWC-HYDRO    --&gt; Parses Central Water Commission river gauge station water levels &amp; discharge rates.</a:t>
            </a:r>
          </a:p>
          <a:p>
            <a:pPr>
              <a:defRPr sz="1150">
                <a:solidFill>
                  <a:srgbClr val="E8EDF5"/>
                </a:solidFill>
              </a:defRPr>
            </a:pPr>
            <a:r>
              <a:t>• MCP-GSI-GEO      --&gt; Evaluates GSI landslide hazard zonation GIS layers &amp; soil moisture indices.</a:t>
            </a:r>
          </a:p>
          <a:p>
            <a:pPr>
              <a:defRPr sz="1150">
                <a:solidFill>
                  <a:srgbClr val="E8EDF5"/>
                </a:solidFill>
              </a:defRPr>
            </a:pPr>
            <a:r>
              <a:t>• MCP-MAPMYINDIA   --&gt; Connects to MapmyIndia routing engine to compute emergency bypass routes.</a:t>
            </a:r>
          </a:p>
          <a:p>
            <a:pPr>
              <a:defRPr sz="1150">
                <a:solidFill>
                  <a:srgbClr val="E8EDF5"/>
                </a:solidFill>
              </a:defRPr>
            </a:pPr>
            <a:r>
              <a:t>• MCP-NDMA-SACHET  --&gt; Formats OASIS CAP v1.2 XML cell broadcast payloads for target mobile towers.</a:t>
            </a:r>
          </a:p>
          <a:p>
            <a:pPr>
              <a:defRPr sz="1150">
                <a:solidFill>
                  <a:srgbClr val="E8EDF5"/>
                </a:solidFill>
              </a:defRPr>
            </a:pPr>
            <a:r>
              <a:t>• MCP-108-HEALTH   --&gt; Queries state 108 emergency health databases for live ICU bed availability.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09 / CODE SPECS (SERVER)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Python FastMCP Ingestion Server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Production implementation of mcp_cwc_server.py exposing CWC telemetry endpoints.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07040" cy="438912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</a:defRPr>
            </a:pPr>
            <a:r>
              <a:t>ideation/mcp_cwc_server.py (Python FastMCP SDK)</a:t>
            </a:r>
          </a:p>
          <a:p>
            <a:pPr>
              <a:defRPr sz="1050">
                <a:solidFill>
                  <a:srgbClr val="E8EDF5"/>
                </a:solidFill>
                <a:latin typeface="Courier New"/>
              </a:defRPr>
            </a:pPr>
            <a:r>
              <a:t>from fastmcp import FastMCP</a:t>
            </a:r>
            <a:br/>
            <a:br/>
            <a:r>
              <a:t>mcp = FastMCP("CWC-Hydrology-Server")</a:t>
            </a:r>
            <a:br/>
            <a:br/>
            <a:r>
              <a:t>CWC_DATABASE = {</a:t>
            </a:r>
            <a:br/>
            <a:r>
              <a:t>    "CWC-KBL-03": {"name": "Kabini Gauge", "river": "Kabini", "current_level": 839.24, "danger_mark": 840.00}</a:t>
            </a:r>
            <a:br/>
            <a:r>
              <a:t>}</a:t>
            </a:r>
            <a:br/>
            <a:br/>
            <a:r>
              <a:t>@mcp.tool()</a:t>
            </a:r>
            <a:br/>
            <a:r>
              <a:t>async def get_river_level(station_id: str) -&gt; dict:</a:t>
            </a:r>
            <a:br/>
            <a:r>
              <a:t>    """Fetch current water level, warning limit &amp; discharge rate for CWC river gauge."""</a:t>
            </a:r>
            <a:br/>
            <a:r>
              <a:t>    return CWC_DATABASE.get(station_id, {"error": "Station not found"})</a:t>
            </a:r>
            <a:br/>
            <a:br/>
            <a:r>
              <a:t>@mcp.tool()</a:t>
            </a:r>
            <a:br/>
            <a:r>
              <a:t>async def check_danger_breach(station_id: str) -&gt; dict:</a:t>
            </a:r>
            <a:br/>
            <a:r>
              <a:t>    """Calculate breach margin against statutory danger mark."""</a:t>
            </a:r>
            <a:br/>
            <a:r>
              <a:t>    data = await get_river_level(station_id)</a:t>
            </a:r>
            <a:br/>
            <a:r>
              <a:t>    current, danger = data["current_level"], data["danger_mark"]</a:t>
            </a:r>
            <a:br/>
            <a:r>
              <a:t>    return {</a:t>
            </a:r>
            <a:br/>
            <a:r>
              <a:t>        "status": "CRITICAL" if current &gt;= danger else "NORMAL",</a:t>
            </a:r>
            <a:br/>
            <a:r>
              <a:t>        "breach_meters": current - danger</a:t>
            </a:r>
            <a:br/>
            <a:r>
              <a:t>   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10 / CODE SPECS (ORCHESTRATOR)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LangGraph Multi-Agent State Machine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Production implementation of agent_orchestrator.py routing agent state transitions.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07040" cy="4389120"/>
          </a:xfrm>
          <a:prstGeom prst="roundRect">
            <a:avLst/>
          </a:prstGeom>
          <a:solidFill>
            <a:srgbClr val="0E121E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B61FF"/>
                </a:solidFill>
              </a:defRPr>
            </a:pPr>
            <a:r>
              <a:t>ideation/agent_orchestrator.py (LangGraph Core)</a:t>
            </a:r>
          </a:p>
          <a:p>
            <a:pPr>
              <a:defRPr sz="1000">
                <a:solidFill>
                  <a:srgbClr val="E8EDF5"/>
                </a:solidFill>
                <a:latin typeface="Courier New"/>
              </a:defRPr>
            </a:pPr>
            <a:r>
              <a:t>class DisasterState(TypedDict):</a:t>
            </a:r>
            <a:br/>
            <a:r>
              <a:t>    incident_active: bool</a:t>
            </a:r>
            <a:br/>
            <a:r>
              <a:t>    rainfall_rate_mm_hr: float</a:t>
            </a:r>
            <a:br/>
            <a:r>
              <a:t>    landslide_risk_score: float</a:t>
            </a:r>
            <a:br/>
            <a:r>
              <a:t>    recommended_action: str</a:t>
            </a:r>
            <a:br/>
            <a:r>
              <a:t>    evacuation_routes: List[str]</a:t>
            </a:r>
            <a:br/>
            <a:br/>
            <a:r>
              <a:t>def commander_agent(state: DisasterState):</a:t>
            </a:r>
            <a:br/>
            <a:r>
              <a:t>    if state["landslide_risk_score"] &gt; 0.75:</a:t>
            </a:r>
            <a:br/>
            <a:r>
              <a:t>        return {</a:t>
            </a:r>
            <a:br/>
            <a:r>
              <a:t>            "recommended_action": "EVACUATE Sector B-4 (Wayanad). Mobilize NDRF 4th Battalion.",</a:t>
            </a:r>
            <a:br/>
            <a:r>
              <a:t>            "evacuation_routes": ["Route 3 East Bypass Corridor"],</a:t>
            </a:r>
            <a:br/>
            <a:r>
              <a:t>            "incident_active": True</a:t>
            </a:r>
            <a:br/>
            <a:r>
              <a:t>        }</a:t>
            </a:r>
            <a:br/>
            <a:br/>
            <a:r>
              <a:t>workflow = StateGraph(DisasterState)</a:t>
            </a:r>
            <a:br/>
            <a:r>
              <a:t>workflow.add_node("WeatherIntel", weather_agent)</a:t>
            </a:r>
            <a:br/>
            <a:r>
              <a:t>workflow.add_node("HydroGeoRisk", flood_landslide_agent)</a:t>
            </a:r>
            <a:br/>
            <a:r>
              <a:t>workflow.add_node("CommanderCore", commander_agent)</a:t>
            </a:r>
            <a:br/>
            <a:br/>
            <a:r>
              <a:t>workflow.set_entry_point("WeatherIntel")</a:t>
            </a:r>
            <a:br/>
            <a:r>
              <a:t>workflow.add_edge("WeatherIntel", "HydroGeoRisk")</a:t>
            </a:r>
            <a:br/>
            <a:r>
              <a:t>workflow.add_edge("HydroGeoRisk", "CommanderCore")</a:t>
            </a:r>
            <a:br/>
            <a:r>
              <a:t>workflow.add_edge("CommanderCore", END)</a:t>
            </a:r>
            <a:br/>
            <a:r>
              <a:t>app = workflow.compile()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11 / GIS &amp; CAP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PostGIS Spatial Join &amp; NDMA CAP XML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Database spatial intersection and OASIS CAP cell broadcast payload structures.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0E121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1. PostGIS SPATIAL POPULATION INTERSECT</a:t>
            </a:r>
          </a:p>
          <a:p>
            <a:pPr>
              <a:defRPr sz="950">
                <a:solidFill>
                  <a:srgbClr val="E8EDF5"/>
                </a:solidFill>
                <a:latin typeface="Courier New"/>
              </a:defRPr>
            </a:pPr>
            <a:r>
              <a:t>SELECT </a:t>
            </a:r>
            <a:br/>
            <a:r>
              <a:t>    census.block_id,</a:t>
            </a:r>
            <a:br/>
            <a:r>
              <a:t>    census.district_name,</a:t>
            </a:r>
            <a:br/>
            <a:r>
              <a:t>    COUNT(census.household_id) AS households,</a:t>
            </a:r>
            <a:br/>
            <a:r>
              <a:t>    SUM(census.population) AS population</a:t>
            </a:r>
            <a:br/>
            <a:r>
              <a:t>FROM census_demographics_spatial AS census</a:t>
            </a:r>
            <a:br/>
            <a:r>
              <a:t>JOIN cwc_flood_inundation_layer AS flood</a:t>
            </a:r>
            <a:br/>
            <a:r>
              <a:t>  ON ST_Intersects(census.geom, flood.geom)</a:t>
            </a:r>
            <a:br/>
            <a:r>
              <a:t>WHERE flood.station_code = 'CWC-KBL-03'</a:t>
            </a:r>
            <a:br/>
            <a:r>
              <a:t>GROUP BY census.block_id, census.district_name;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0E121E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4D6A"/>
                </a:solidFill>
              </a:defRPr>
            </a:pPr>
            <a:r>
              <a:t>2. NDMA SACHET OASIS CAP v1.2 XML</a:t>
            </a:r>
          </a:p>
          <a:p>
            <a:pPr>
              <a:defRPr sz="950">
                <a:solidFill>
                  <a:srgbClr val="E8EDF5"/>
                </a:solidFill>
                <a:latin typeface="Courier New"/>
              </a:defRPr>
            </a:pPr>
            <a:r>
              <a:t>&lt;alert xmlns="urn:oasis:names:tc:emergency:cap:1.2"&gt;</a:t>
            </a:r>
            <a:br/>
            <a:r>
              <a:t>  &lt;identifier&gt;NDMA-WAYANAD-20260722-001&lt;/identifier&gt;</a:t>
            </a:r>
            <a:br/>
            <a:r>
              <a:t>  &lt;info&gt;</a:t>
            </a:r>
            <a:br/>
            <a:r>
              <a:t>    &lt;language&gt;ml-IN&lt;/language&gt; &lt;!-- Malayalam --&gt;</a:t>
            </a:r>
            <a:br/>
            <a:r>
              <a:t>    &lt;headline&gt;വയനാട് മിന്നൽ പ്രളയ മുന്നറിയിപ്പ്&lt;/headline&gt;</a:t>
            </a:r>
            <a:br/>
            <a:r>
              <a:t>    &lt;description&gt;ഉയർന്ന പ്രദേശങ്ങളിലേക്ക് മാറുക.&lt;/description&gt;</a:t>
            </a:r>
            <a:br/>
            <a:r>
              <a:t>    &lt;area&gt;&lt;circle&gt;11.6854,76.1320 5000&lt;/circle&gt;&lt;/area&gt;</a:t>
            </a:r>
            <a:br/>
            <a:r>
              <a:t>  &lt;/info&gt;</a:t>
            </a:r>
            <a:br/>
            <a:r>
              <a:t>&lt;/alert&gt;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12 /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Telemetry to Execution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4-stage continuous disaster monitoring and dispatch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468880" cy="347472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01. INGEST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Telemetry Streams</a:t>
            </a:r>
            <a:br/>
            <a:br/>
            <a:r>
              <a:t>Scrapes IMD doppler radar &amp; CWC gauges every 15 min.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286000"/>
            <a:ext cx="2468880" cy="347472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02. PROFILE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Risk Assessment</a:t>
            </a:r>
            <a:br/>
            <a:br/>
            <a:r>
              <a:t>Computes landslide susceptibility &amp; inundation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286000"/>
            <a:ext cx="2468880" cy="347472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03. SIMULATE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Plan Generation</a:t>
            </a:r>
            <a:br/>
            <a:br/>
            <a:r>
              <a:t>Calculates evacuation routes via MapmyIndia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286000"/>
            <a:ext cx="2468880" cy="3474720"/>
          </a:xfrm>
          <a:prstGeom prst="roundRect">
            <a:avLst/>
          </a:prstGeom>
          <a:solidFill>
            <a:srgbClr val="0E121E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4D6A"/>
                </a:solidFill>
              </a:defRPr>
            </a:pPr>
            <a:r>
              <a:t>04. EXECUTE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Action Dispatch</a:t>
            </a:r>
            <a:br/>
            <a:br/>
            <a:r>
              <a:t>Dispatches NDMA Sachet cell warnings &amp; 108 ICU beds.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13 / THE 'WOW' 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Beyond Alerting: Real-Data Autonomous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Why XNexus-CrisisOS stands out from legacy dashboard software.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01. Multi-Agency Data Fusion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Agents from IMD, CWC, NDRF, MapmyIndia, and 108-Health share a semantic memory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338328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02. CWC-to-Road Graph Intelligence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Flood inundation shapes directly overlay NHAI road graphs, auto-computing detours.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920240"/>
            <a:ext cx="338328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03. Multilingual Cell Broadcast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NDMA Sachet protocol pushes Hindi, English, and local alerts directly to cell towers.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38328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04. Tested on Real Wayanad Data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Modeled against Kabini reservoir discharge records and 2024 Wayanad flood maps.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114800"/>
            <a:ext cx="338328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05. 100% India-Native Infrastructure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Zero dependency on foreign mapping or cloud tools. Built on Indian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114800"/>
            <a:ext cx="338328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06. Zero-Latency Hospital Triage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Queries 108 health API to route casualties only to hospitals with verified ICU beds.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14 / PROJECTED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Target Safety &amp;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Empirical performance targets for XNexus-CrisisOS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F0FF"/>
                </a:solidFill>
              </a:defRPr>
            </a:pPr>
            <a:r>
              <a:t>&lt; 5 min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RESPONSE TIME</a:t>
            </a:r>
            <a:br/>
            <a:r>
              <a:t>From gauge trigger to cell broadcast.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7B61FF"/>
                </a:solidFill>
              </a:defRPr>
            </a:pPr>
            <a:r>
              <a:t>840+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HOUSEHOLDS COVERED</a:t>
            </a:r>
            <a:br/>
            <a:r>
              <a:t>Per targeted warning polygon.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1920240"/>
          </a:xfrm>
          <a:prstGeom prst="roundRect">
            <a:avLst/>
          </a:prstGeom>
          <a:solidFill>
            <a:srgbClr val="0E121E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E676"/>
                </a:solidFill>
              </a:defRPr>
            </a:pPr>
            <a:r>
              <a:t>9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AI AGENTS ACTIVE</a:t>
            </a:r>
            <a:br/>
            <a:r>
              <a:t>Collaborating in shared memory.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607040" cy="219456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</a:defRPr>
            </a:pPr>
            <a:r>
              <a:t>OPERATIONAL PERFORMANCE TARGETS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• 90% Warning Speedup: Cuts traditional 100-minute manual delay down to under 5 minutes.</a:t>
            </a:r>
            <a:br/>
            <a:r>
              <a:t>• 75% Resource Efficiency: Eliminates duplicate NDRF dispatches &amp; optimizes ambulance routes.</a:t>
            </a:r>
            <a:br/>
            <a:r>
              <a:t>• 85% Evacuation Compliance: Localized multilingual cell broadcasts increase compliance rates.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15 / 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Development Blueprint &amp; Expansion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A99"/>
                </a:solidFill>
                <a:latin typeface="Arial"/>
              </a:defRPr>
            </a:pPr>
            <a:r>
              <a:t>Scaling XNexus-CrisisOS across India's disaster management framework.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3383280"/>
          </a:xfrm>
          <a:prstGeom prst="roundRect">
            <a:avLst/>
          </a:prstGeom>
          <a:solidFill>
            <a:srgbClr val="0E12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PHASE 1 — NOW (MVP)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Hackathon Prototype</a:t>
            </a:r>
            <a:br/>
            <a:br/>
            <a:r>
              <a:t>Core 9-agent architecture, FastMCP servers, Wayanad flood scenario proof-of-concept.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3383280" cy="3383280"/>
          </a:xfrm>
          <a:prstGeom prst="roundRect">
            <a:avLst/>
          </a:prstGeom>
          <a:solidFill>
            <a:srgbClr val="0E121E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B61FF"/>
                </a:solidFill>
              </a:defRPr>
            </a:pPr>
            <a:r>
              <a:t>PHASE 2 — Q3 2026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State-Level Pilots</a:t>
            </a:r>
            <a:br/>
            <a:br/>
            <a:r>
              <a:t>Deploy across Kerala SDMA &amp; Uttarakhand SDMA. Live 108 health API &amp; NDMA Sachet connections.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920240"/>
            <a:ext cx="3383280" cy="3383280"/>
          </a:xfrm>
          <a:prstGeom prst="roundRect">
            <a:avLst/>
          </a:prstGeom>
          <a:solidFill>
            <a:srgbClr val="0E121E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676"/>
                </a:solidFill>
              </a:defRPr>
            </a:pPr>
            <a:r>
              <a:t>PHASE 3 — 2027</a:t>
            </a:r>
          </a:p>
          <a:p>
            <a:br/>
            <a:pPr>
              <a:defRPr sz="1050">
                <a:solidFill>
                  <a:srgbClr val="E8EDF5"/>
                </a:solidFill>
              </a:defRPr>
            </a:pPr>
            <a:r>
              <a:t>National Scale</a:t>
            </a:r>
            <a:br/>
            <a:br/>
            <a:r>
              <a:t>Full NDMA integration covering all 36 States &amp; UTs with cyclone, earthquake &amp; industrial alert modules.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BUILT FOR INDIA. BY INDIA.</a:t>
            </a:r>
          </a:p>
          <a:p>
            <a:pPr algn="ctr">
              <a:defRPr sz="1100">
                <a:solidFill>
                  <a:srgbClr val="6B7A99"/>
                </a:solidFill>
              </a:defRPr>
            </a:pPr>
            <a:r>
              <a:t>Every API, telemetry stream, and mapping service is 100% Indian emergency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